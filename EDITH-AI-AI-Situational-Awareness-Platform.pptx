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itter" panose="020B0604020202020204" charset="0"/>
      <p:regular r:id="rId13"/>
    </p:embeddedFont>
    <p:embeddedFont>
      <p:font typeface="Bitter SemiBold" panose="020B0604020202020204" charset="0"/>
      <p:regular r:id="rId14"/>
    </p:embeddedFont>
    <p:embeddedFont>
      <p:font typeface="Jos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557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does not specify which individual capabilities have been demonstrated. Present the capability map as intended scope, not as evidence of a complete product. The prototype budget is a constraint, not a claim of delivered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example as an investigation cue. Temporal association alone does not establish causation, device ownership or intent. The reviewer must examine the evidence before drawing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030" y="1422400"/>
            <a:ext cx="80135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 · PLATFORM CONCEPT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81030" y="1682055"/>
            <a:ext cx="7403915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7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EDITH-AI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781030" y="2729805"/>
            <a:ext cx="7403915" cy="1061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 Situational</a:t>
            </a:r>
            <a:endParaRPr lang="en-US" sz="38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Awareness Platform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81030" y="4013696"/>
            <a:ext cx="1850879" cy="38100"/>
          </a:xfrm>
          <a:prstGeom prst="roundRect">
            <a:avLst>
              <a:gd name="adj" fmla="val 49999"/>
            </a:avLst>
          </a:prstGeom>
          <a:solidFill>
            <a:srgbClr val="36D8EF"/>
          </a:solidFill>
          <a:ln/>
        </p:spPr>
      </p:sp>
      <p:sp>
        <p:nvSpPr>
          <p:cNvPr id="6" name="Text 4"/>
          <p:cNvSpPr/>
          <p:nvPr/>
        </p:nvSpPr>
        <p:spPr>
          <a:xfrm>
            <a:off x="781030" y="4254996"/>
            <a:ext cx="7403915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Vision, memory, cybersecurity awareness</a:t>
            </a:r>
            <a:endParaRPr lang="en-US" sz="16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and risk analysis in one platform.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1030" y="5892800"/>
            <a:ext cx="915647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Understand physical and digital environments through shared context.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75690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GAP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818455"/>
            <a:ext cx="701022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AI assistants answer questions but stay blind to the environment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58786" y="1890216"/>
            <a:ext cx="3352716" cy="3809603"/>
          </a:xfrm>
          <a:prstGeom prst="rect">
            <a:avLst/>
          </a:prstGeom>
          <a:solidFill>
            <a:srgbClr val="0C1929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5479" y="2156916"/>
            <a:ext cx="28193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Conversation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5479" y="2563316"/>
            <a:ext cx="281932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Traditional assistants respond to prompts, without continuously seeing, remembering or detecting environmental change.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16295" y="1890216"/>
            <a:ext cx="3352716" cy="3809603"/>
          </a:xfrm>
          <a:prstGeom prst="rect">
            <a:avLst/>
          </a:prstGeom>
          <a:solidFill>
            <a:srgbClr val="0C1929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2988" y="2156916"/>
            <a:ext cx="2819329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Fragmented signals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482988" y="2563316"/>
            <a:ext cx="2819329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Cameras, security monitoring, logs, documents and automation remain separate systems with no shared context.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786" y="5858570"/>
            <a:ext cx="75690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missing layer is awareness across systems.</a:t>
            </a:r>
            <a:endParaRPr lang="en-US" sz="10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09585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061916" y="6466086"/>
            <a:ext cx="67734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22684" y="978098"/>
            <a:ext cx="75690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4622684" y="1237754"/>
            <a:ext cx="7010225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One system for physical and digital awareness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622684" y="2588915"/>
            <a:ext cx="70102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One AI connects what it sees, remembers and detects to help people understand their surroundings.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22684" y="3245346"/>
            <a:ext cx="3352716" cy="1386681"/>
          </a:xfrm>
          <a:prstGeom prst="rect">
            <a:avLst/>
          </a:prstGeom>
          <a:noFill/>
          <a:ln w="12700">
            <a:solidFill>
              <a:srgbClr val="2344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863978" y="3486646"/>
            <a:ext cx="28701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Physical context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863978" y="3893046"/>
            <a:ext cx="287012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People, objects, places and changes.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80193" y="3245346"/>
            <a:ext cx="3352716" cy="1386681"/>
          </a:xfrm>
          <a:prstGeom prst="rect">
            <a:avLst/>
          </a:prstGeom>
          <a:noFill/>
          <a:ln w="12700">
            <a:solidFill>
              <a:srgbClr val="2344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21487" y="3486646"/>
            <a:ext cx="28701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Digital context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8521487" y="3893046"/>
            <a:ext cx="287012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Devices, network activity and events.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22684" y="5235277"/>
            <a:ext cx="7010225" cy="19050"/>
          </a:xfrm>
          <a:prstGeom prst="roundRect">
            <a:avLst>
              <a:gd name="adj" fmla="val 49999"/>
            </a:avLst>
          </a:prstGeom>
          <a:solidFill>
            <a:srgbClr val="36D8EF"/>
          </a:solidFill>
          <a:ln/>
        </p:spPr>
      </p:sp>
      <p:sp>
        <p:nvSpPr>
          <p:cNvPr id="13" name="Text 10"/>
          <p:cNvSpPr/>
          <p:nvPr/>
        </p:nvSpPr>
        <p:spPr>
          <a:xfrm>
            <a:off x="4622684" y="5600402"/>
            <a:ext cx="70102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Shared memory. Connected reasoning.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802960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511171" y="6466086"/>
            <a:ext cx="68052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 · CAPABILITY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818455"/>
            <a:ext cx="11074123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EDITH-AI is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58786" y="1666776"/>
            <a:ext cx="1163290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 intelligent awareness platform with an assistant the user can talk 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8786" y="2074366"/>
            <a:ext cx="3488146" cy="1737122"/>
          </a:xfrm>
          <a:prstGeom prst="rect">
            <a:avLst/>
          </a:prstGeom>
          <a:solidFill>
            <a:srgbClr val="0C1929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879" y="2366466"/>
            <a:ext cx="290396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Perceive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0879" y="2772866"/>
            <a:ext cx="29039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Computer vision and AI interpret the environment.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51725" y="2074366"/>
            <a:ext cx="3488146" cy="1737122"/>
          </a:xfrm>
          <a:prstGeom prst="rect">
            <a:avLst/>
          </a:prstGeom>
          <a:solidFill>
            <a:srgbClr val="0C1929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3817" y="2366466"/>
            <a:ext cx="2903961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Understand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43817" y="2772866"/>
            <a:ext cx="290396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Memory, cybersecurity awareness, anomaly detection and risk analysis connect the signals.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44663" y="2074366"/>
            <a:ext cx="3488246" cy="1737122"/>
          </a:xfrm>
          <a:prstGeom prst="rect">
            <a:avLst/>
          </a:prstGeom>
          <a:solidFill>
            <a:srgbClr val="0C1929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6756" y="2366466"/>
            <a:ext cx="29040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Respond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36756" y="2772866"/>
            <a:ext cx="290406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conversational assistant and automation support informed action.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58786" y="5352554"/>
            <a:ext cx="11074123" cy="946646"/>
          </a:xfrm>
          <a:prstGeom prst="rect">
            <a:avLst/>
          </a:prstGeom>
          <a:solidFill>
            <a:srgbClr val="10243A"/>
          </a:solidFill>
          <a:ln/>
        </p:spPr>
      </p:sp>
      <p:sp>
        <p:nvSpPr>
          <p:cNvPr id="15" name="Text 13"/>
          <p:cNvSpPr/>
          <p:nvPr/>
        </p:nvSpPr>
        <p:spPr>
          <a:xfrm>
            <a:off x="812780" y="5555754"/>
            <a:ext cx="1082012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CURRENT PROTOTYPE · BUDGET CONSTRAINT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2780" y="5847159"/>
            <a:ext cx="1082012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1,000–2,000 EGP · Minimal hardware. The full capability map remains Future Vision.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585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509385" y="6466086"/>
            <a:ext cx="6823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ransition spd="slow">
    <p:strips dir="l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 · END-TO-END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818455"/>
            <a:ext cx="11074123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How EDITH-AI works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58786" y="1666776"/>
            <a:ext cx="1163290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Signals become context, then evidence-backed decisions and action.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58786" y="2271216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6D8E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8786" y="2520156"/>
            <a:ext cx="1591528" cy="19050"/>
          </a:xfrm>
          <a:prstGeom prst="rect">
            <a:avLst/>
          </a:prstGeom>
          <a:solidFill>
            <a:srgbClr val="36D8EF"/>
          </a:solidFill>
          <a:ln/>
        </p:spPr>
      </p:sp>
      <p:sp>
        <p:nvSpPr>
          <p:cNvPr id="7" name="Text 5"/>
          <p:cNvSpPr/>
          <p:nvPr/>
        </p:nvSpPr>
        <p:spPr>
          <a:xfrm>
            <a:off x="558786" y="2645866"/>
            <a:ext cx="15916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Input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8786" y="3010297"/>
            <a:ext cx="1591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Cameras, network signals, logs and documents.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55206" y="2271216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6D8E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55206" y="2520156"/>
            <a:ext cx="1591727" cy="19050"/>
          </a:xfrm>
          <a:prstGeom prst="rect">
            <a:avLst/>
          </a:prstGeom>
          <a:solidFill>
            <a:srgbClr val="36D8EF"/>
          </a:solidFill>
          <a:ln/>
        </p:spPr>
      </p:sp>
      <p:sp>
        <p:nvSpPr>
          <p:cNvPr id="11" name="Text 9"/>
          <p:cNvSpPr/>
          <p:nvPr/>
        </p:nvSpPr>
        <p:spPr>
          <a:xfrm>
            <a:off x="2455206" y="2645866"/>
            <a:ext cx="159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Perception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55206" y="3010297"/>
            <a:ext cx="15917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Extract observations from incoming signals.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51725" y="2271216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6D8E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51725" y="2520156"/>
            <a:ext cx="1591727" cy="19050"/>
          </a:xfrm>
          <a:prstGeom prst="rect">
            <a:avLst/>
          </a:prstGeom>
          <a:solidFill>
            <a:srgbClr val="36D8EF"/>
          </a:solidFill>
          <a:ln/>
        </p:spPr>
      </p:sp>
      <p:sp>
        <p:nvSpPr>
          <p:cNvPr id="15" name="Text 13"/>
          <p:cNvSpPr/>
          <p:nvPr/>
        </p:nvSpPr>
        <p:spPr>
          <a:xfrm>
            <a:off x="4351725" y="2645866"/>
            <a:ext cx="159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Memory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51725" y="3010297"/>
            <a:ext cx="15917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Store events and retrieve prior context.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48244" y="2271216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6D8E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8244" y="2520156"/>
            <a:ext cx="1591528" cy="19050"/>
          </a:xfrm>
          <a:prstGeom prst="rect">
            <a:avLst/>
          </a:prstGeom>
          <a:solidFill>
            <a:srgbClr val="36D8EF"/>
          </a:solidFill>
          <a:ln/>
        </p:spPr>
      </p:sp>
      <p:sp>
        <p:nvSpPr>
          <p:cNvPr id="19" name="Text 17"/>
          <p:cNvSpPr/>
          <p:nvPr/>
        </p:nvSpPr>
        <p:spPr>
          <a:xfrm>
            <a:off x="6248244" y="2645866"/>
            <a:ext cx="15916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Reasoning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248244" y="3010297"/>
            <a:ext cx="15916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Connect observations across sources.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44663" y="2271216"/>
            <a:ext cx="8194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6D8E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44663" y="2520156"/>
            <a:ext cx="1591727" cy="19050"/>
          </a:xfrm>
          <a:prstGeom prst="rect">
            <a:avLst/>
          </a:prstGeom>
          <a:solidFill>
            <a:srgbClr val="36D8EF"/>
          </a:solidFill>
          <a:ln/>
        </p:spPr>
      </p:sp>
      <p:sp>
        <p:nvSpPr>
          <p:cNvPr id="23" name="Text 21"/>
          <p:cNvSpPr/>
          <p:nvPr/>
        </p:nvSpPr>
        <p:spPr>
          <a:xfrm>
            <a:off x="8144663" y="2645866"/>
            <a:ext cx="159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Risk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144663" y="3010297"/>
            <a:ext cx="15917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Detect anomalies and prioritize evidence.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41182" y="2271216"/>
            <a:ext cx="827761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36D8EF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41182" y="2520156"/>
            <a:ext cx="1591727" cy="19050"/>
          </a:xfrm>
          <a:prstGeom prst="rect">
            <a:avLst/>
          </a:prstGeom>
          <a:solidFill>
            <a:srgbClr val="36D8E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41182" y="2645866"/>
            <a:ext cx="159172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Action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041182" y="3010297"/>
            <a:ext cx="159172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Notify users and support automation.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8786" y="5706170"/>
            <a:ext cx="3488146" cy="593030"/>
          </a:xfrm>
          <a:prstGeom prst="rect">
            <a:avLst/>
          </a:prstGeom>
          <a:solidFill>
            <a:srgbClr val="1024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6582" y="5883970"/>
            <a:ext cx="313255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Dashboard alerts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4351725" y="5706170"/>
            <a:ext cx="3488146" cy="593030"/>
          </a:xfrm>
          <a:prstGeom prst="rect">
            <a:avLst/>
          </a:prstGeom>
          <a:solidFill>
            <a:srgbClr val="10243A"/>
          </a:solidFill>
          <a:ln/>
        </p:spPr>
      </p:sp>
      <p:sp>
        <p:nvSpPr>
          <p:cNvPr id="32" name="Text 30"/>
          <p:cNvSpPr/>
          <p:nvPr/>
        </p:nvSpPr>
        <p:spPr>
          <a:xfrm>
            <a:off x="4529520" y="5883970"/>
            <a:ext cx="313255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Voice assistant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144663" y="5706170"/>
            <a:ext cx="3488246" cy="593030"/>
          </a:xfrm>
          <a:prstGeom prst="rect">
            <a:avLst/>
          </a:prstGeom>
          <a:solidFill>
            <a:srgbClr val="10243A"/>
          </a:solidFill>
          <a:ln/>
        </p:spPr>
      </p:sp>
      <p:sp>
        <p:nvSpPr>
          <p:cNvPr id="34" name="Text 32"/>
          <p:cNvSpPr/>
          <p:nvPr/>
        </p:nvSpPr>
        <p:spPr>
          <a:xfrm>
            <a:off x="8322459" y="5883970"/>
            <a:ext cx="313265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Smart glasses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09585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15635" y="6466086"/>
            <a:ext cx="6760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ransition spd="slow">
    <p:strips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508988" y="6466086"/>
            <a:ext cx="68270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54034" y="457200"/>
            <a:ext cx="1029944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 · ILLUSTRATIVE CAMERA 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4034" y="716855"/>
            <a:ext cx="968985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Vision engine understands the environment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730832" y="1803400"/>
            <a:ext cx="2387540" cy="3149600"/>
          </a:xfrm>
          <a:prstGeom prst="rect">
            <a:avLst/>
          </a:prstGeom>
          <a:noFill/>
          <a:ln w="19050">
            <a:solidFill>
              <a:srgbClr val="36D8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668" y="3492500"/>
            <a:ext cx="1841454" cy="1270000"/>
          </a:xfrm>
          <a:prstGeom prst="rect">
            <a:avLst/>
          </a:prstGeom>
          <a:noFill/>
          <a:ln w="19050">
            <a:solidFill>
              <a:srgbClr val="529A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783" y="1955800"/>
            <a:ext cx="3632109" cy="2610644"/>
          </a:xfrm>
          <a:prstGeom prst="roundRect">
            <a:avLst>
              <a:gd name="adj" fmla="val 2335"/>
            </a:avLst>
          </a:prstGeom>
          <a:solidFill>
            <a:srgbClr val="060F1B">
              <a:alpha val="88000"/>
            </a:srgbClr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476" y="2222500"/>
            <a:ext cx="30987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Perception capabilities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2476" y="2628900"/>
            <a:ext cx="3098722" cy="167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Consent-based person recognition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Object recognition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Scene understanding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OCR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Visual question answering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75281" y="5054600"/>
            <a:ext cx="394960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Person recognition requires consent.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0232" y="5842000"/>
            <a:ext cx="1068043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Ask about the view. Ground the answer in visible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705445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 · EVENT HISTORY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965101"/>
            <a:ext cx="11074123" cy="670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Memory turns events into context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58786" y="1813421"/>
            <a:ext cx="1163290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Remember people, objects, locations and events. Retrieve history to answer with context.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8786" y="3887093"/>
            <a:ext cx="11074123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051892" y="335369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302944"/>
          </a:solidFill>
          <a:ln/>
        </p:spPr>
      </p:sp>
      <p:sp>
        <p:nvSpPr>
          <p:cNvPr id="7" name="Shape 5"/>
          <p:cNvSpPr/>
          <p:nvPr/>
        </p:nvSpPr>
        <p:spPr>
          <a:xfrm>
            <a:off x="1994743" y="3820418"/>
            <a:ext cx="133347" cy="133350"/>
          </a:xfrm>
          <a:prstGeom prst="ellipse">
            <a:avLst/>
          </a:prstGeom>
          <a:solidFill>
            <a:srgbClr val="17102B"/>
          </a:solidFill>
          <a:ln/>
        </p:spPr>
      </p:sp>
      <p:sp>
        <p:nvSpPr>
          <p:cNvPr id="8" name="Shape 6"/>
          <p:cNvSpPr/>
          <p:nvPr/>
        </p:nvSpPr>
        <p:spPr>
          <a:xfrm>
            <a:off x="558786" y="2367062"/>
            <a:ext cx="3005261" cy="986631"/>
          </a:xfrm>
          <a:prstGeom prst="roundRect">
            <a:avLst>
              <a:gd name="adj" fmla="val 1158"/>
            </a:avLst>
          </a:prstGeom>
          <a:solidFill>
            <a:srgbClr val="17102B"/>
          </a:solidFill>
          <a:ln w="19050">
            <a:solidFill>
              <a:srgbClr val="1710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5631" y="2563912"/>
            <a:ext cx="26115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People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5631" y="2908002"/>
            <a:ext cx="261157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Consent-based observations.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65644" y="388709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634F89"/>
          </a:solidFill>
          <a:ln/>
        </p:spPr>
      </p:sp>
      <p:sp>
        <p:nvSpPr>
          <p:cNvPr id="12" name="Shape 10"/>
          <p:cNvSpPr/>
          <p:nvPr/>
        </p:nvSpPr>
        <p:spPr>
          <a:xfrm>
            <a:off x="3608496" y="3820418"/>
            <a:ext cx="133347" cy="133350"/>
          </a:xfrm>
          <a:prstGeom prst="ellipse">
            <a:avLst/>
          </a:prstGeom>
          <a:solidFill>
            <a:srgbClr val="4A3670"/>
          </a:solidFill>
          <a:ln/>
        </p:spPr>
      </p:sp>
      <p:sp>
        <p:nvSpPr>
          <p:cNvPr id="13" name="Shape 11"/>
          <p:cNvSpPr/>
          <p:nvPr/>
        </p:nvSpPr>
        <p:spPr>
          <a:xfrm>
            <a:off x="2172539" y="4420493"/>
            <a:ext cx="3005261" cy="986631"/>
          </a:xfrm>
          <a:prstGeom prst="roundRect">
            <a:avLst>
              <a:gd name="adj" fmla="val 1158"/>
            </a:avLst>
          </a:prstGeom>
          <a:solidFill>
            <a:srgbClr val="17102B"/>
          </a:solidFill>
          <a:ln w="19050">
            <a:solidFill>
              <a:srgbClr val="4A36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69384" y="4617343"/>
            <a:ext cx="26115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Objects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369384" y="4961434"/>
            <a:ext cx="261157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was present.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79397" y="335369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9553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222248" y="3820418"/>
            <a:ext cx="133347" cy="1333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Shape 16"/>
          <p:cNvSpPr/>
          <p:nvPr/>
        </p:nvSpPr>
        <p:spPr>
          <a:xfrm>
            <a:off x="3786291" y="2367062"/>
            <a:ext cx="3005261" cy="986631"/>
          </a:xfrm>
          <a:prstGeom prst="roundRect">
            <a:avLst>
              <a:gd name="adj" fmla="val 1158"/>
            </a:avLst>
          </a:prstGeom>
          <a:solidFill>
            <a:srgbClr val="17102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83136" y="2563912"/>
            <a:ext cx="26115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983136" y="2908002"/>
            <a:ext cx="261157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Where change occurred.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93149" y="388709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9D82DB"/>
          </a:solidFill>
          <a:ln/>
        </p:spPr>
      </p:sp>
      <p:sp>
        <p:nvSpPr>
          <p:cNvPr id="22" name="Shape 20"/>
          <p:cNvSpPr/>
          <p:nvPr/>
        </p:nvSpPr>
        <p:spPr>
          <a:xfrm>
            <a:off x="6836001" y="3820418"/>
            <a:ext cx="133347" cy="133350"/>
          </a:xfrm>
          <a:prstGeom prst="ellipse">
            <a:avLst/>
          </a:prstGeom>
          <a:solidFill>
            <a:srgbClr val="B79CF5"/>
          </a:solidFill>
          <a:ln/>
        </p:spPr>
      </p:sp>
      <p:sp>
        <p:nvSpPr>
          <p:cNvPr id="23" name="Shape 21"/>
          <p:cNvSpPr/>
          <p:nvPr/>
        </p:nvSpPr>
        <p:spPr>
          <a:xfrm>
            <a:off x="5400044" y="4420493"/>
            <a:ext cx="3005261" cy="986631"/>
          </a:xfrm>
          <a:prstGeom prst="roundRect">
            <a:avLst>
              <a:gd name="adj" fmla="val 1158"/>
            </a:avLst>
          </a:prstGeom>
          <a:solidFill>
            <a:srgbClr val="17102B"/>
          </a:solidFill>
          <a:ln w="19050">
            <a:solidFill>
              <a:srgbClr val="B79C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96889" y="4617343"/>
            <a:ext cx="26115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Network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596889" y="4961434"/>
            <a:ext cx="261157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Device events.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6902" y="335369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D8D3E1"/>
          </a:solidFill>
          <a:ln/>
        </p:spPr>
      </p:sp>
      <p:sp>
        <p:nvSpPr>
          <p:cNvPr id="27" name="Shape 25"/>
          <p:cNvSpPr/>
          <p:nvPr/>
        </p:nvSpPr>
        <p:spPr>
          <a:xfrm>
            <a:off x="8449753" y="3820418"/>
            <a:ext cx="133347" cy="133350"/>
          </a:xfrm>
          <a:prstGeom prst="ellipse">
            <a:avLst/>
          </a:prstGeom>
          <a:solidFill>
            <a:srgbClr val="F2EDFB"/>
          </a:solidFill>
          <a:ln/>
        </p:spPr>
      </p:sp>
      <p:sp>
        <p:nvSpPr>
          <p:cNvPr id="28" name="Shape 26"/>
          <p:cNvSpPr/>
          <p:nvPr/>
        </p:nvSpPr>
        <p:spPr>
          <a:xfrm>
            <a:off x="7013796" y="2367062"/>
            <a:ext cx="3005261" cy="986631"/>
          </a:xfrm>
          <a:prstGeom prst="roundRect">
            <a:avLst>
              <a:gd name="adj" fmla="val 1158"/>
            </a:avLst>
          </a:prstGeom>
          <a:solidFill>
            <a:srgbClr val="17102B"/>
          </a:solidFill>
          <a:ln w="19050">
            <a:solidFill>
              <a:srgbClr val="F2ED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10641" y="2563912"/>
            <a:ext cx="26115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Alerts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210641" y="2908002"/>
            <a:ext cx="261157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warranted review.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120655" y="3887093"/>
            <a:ext cx="19050" cy="533400"/>
          </a:xfrm>
          <a:prstGeom prst="roundRect">
            <a:avLst>
              <a:gd name="adj" fmla="val 49999"/>
            </a:avLst>
          </a:prstGeom>
          <a:solidFill>
            <a:srgbClr val="302944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63506" y="3820418"/>
            <a:ext cx="133347" cy="133350"/>
          </a:xfrm>
          <a:prstGeom prst="ellipse">
            <a:avLst/>
          </a:prstGeom>
          <a:solidFill>
            <a:srgbClr val="17102B"/>
          </a:solidFill>
          <a:ln/>
        </p:spPr>
      </p:sp>
      <p:sp>
        <p:nvSpPr>
          <p:cNvPr id="33" name="Shape 31"/>
          <p:cNvSpPr/>
          <p:nvPr/>
        </p:nvSpPr>
        <p:spPr>
          <a:xfrm>
            <a:off x="8627549" y="4420493"/>
            <a:ext cx="3005261" cy="986631"/>
          </a:xfrm>
          <a:prstGeom prst="roundRect">
            <a:avLst>
              <a:gd name="adj" fmla="val 1158"/>
            </a:avLst>
          </a:prstGeom>
          <a:solidFill>
            <a:srgbClr val="17102B"/>
          </a:solidFill>
          <a:ln w="19050">
            <a:solidFill>
              <a:srgbClr val="1710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24394" y="4617343"/>
            <a:ext cx="261157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Actions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824394" y="4961434"/>
            <a:ext cx="261157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followed.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58786" y="5559524"/>
            <a:ext cx="1107412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“What changed, and what happened before it?”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58786" y="5965924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Illustrative query · A connected history supports a contextual answer.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09585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519604" y="6466086"/>
            <a:ext cx="67209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966986"/>
            <a:ext cx="756901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 · EVIDENCE FIRST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1226641"/>
            <a:ext cx="701022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Anomaly detection and evidence-based risk scoring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58786" y="2501602"/>
            <a:ext cx="70102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Learn normal patterns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58786" y="2908002"/>
            <a:ext cx="701022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Establish context before interpreting change.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58786" y="3563243"/>
            <a:ext cx="70102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Flag the unexpected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58786" y="3969643"/>
            <a:ext cx="701022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Surface deviations for review, with supporting observations.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8786" y="4624884"/>
            <a:ext cx="7010225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Prioritize risk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58786" y="5031284"/>
            <a:ext cx="701022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Score significance and show the evidence behind the assessment.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58786" y="5642074"/>
            <a:ext cx="756901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36D8E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Never claim certainty without evidence.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797" y="0"/>
            <a:ext cx="4063898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58786" y="3353693"/>
            <a:ext cx="7010225" cy="12700"/>
          </a:xfrm>
          <a:prstGeom prst="rect">
            <a:avLst/>
          </a:prstGeom>
          <a:solidFill>
            <a:srgbClr val="23445C"/>
          </a:solidFill>
          <a:ln/>
        </p:spPr>
      </p:sp>
      <p:sp>
        <p:nvSpPr>
          <p:cNvPr id="13" name="Shape 10"/>
          <p:cNvSpPr/>
          <p:nvPr/>
        </p:nvSpPr>
        <p:spPr>
          <a:xfrm>
            <a:off x="558786" y="4415334"/>
            <a:ext cx="7010225" cy="12700"/>
          </a:xfrm>
          <a:prstGeom prst="rect">
            <a:avLst/>
          </a:prstGeom>
          <a:solidFill>
            <a:srgbClr val="23445C"/>
          </a:solidFill>
          <a:ln/>
        </p:spPr>
      </p:sp>
      <p:sp>
        <p:nvSpPr>
          <p:cNvPr id="14" name="Text 11"/>
          <p:cNvSpPr/>
          <p:nvPr/>
        </p:nvSpPr>
        <p:spPr>
          <a:xfrm>
            <a:off x="609585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58443" y="6466086"/>
            <a:ext cx="6843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231106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 · CYBERVISION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1490762"/>
            <a:ext cx="11074123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CyberVision exposes unknown devices on the network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1598" y="2096492"/>
            <a:ext cx="5228499" cy="2412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6383" y="2316250"/>
            <a:ext cx="2049385" cy="13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Device awareness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701340" y="3517972"/>
            <a:ext cx="878246" cy="13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Known camera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701340" y="3711261"/>
            <a:ext cx="878246" cy="293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Recognized inventory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669" y="3105580"/>
            <a:ext cx="219588" cy="2195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03187" y="3641058"/>
            <a:ext cx="878245" cy="260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Known workstation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003187" y="3964677"/>
            <a:ext cx="878245" cy="29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Recognized inventory</a:t>
            </a:r>
            <a:endParaRPr lang="en-US" sz="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516" y="3267661"/>
            <a:ext cx="219589" cy="21959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15491" y="3695739"/>
            <a:ext cx="878245" cy="13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Known server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315491" y="3889028"/>
            <a:ext cx="878245" cy="293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Recognized inventory</a:t>
            </a:r>
            <a:endParaRPr lang="en-US" sz="8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4362" y="3257204"/>
            <a:ext cx="219589" cy="2195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06881" y="3612411"/>
            <a:ext cx="878246" cy="130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95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Unknown device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7606881" y="3805699"/>
            <a:ext cx="878246" cy="14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8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Review required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1438" y="3110808"/>
            <a:ext cx="219589" cy="2195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8786" y="4668143"/>
            <a:ext cx="34881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Identity</a:t>
            </a:r>
            <a:endParaRPr lang="en-US" sz="1700" dirty="0"/>
          </a:p>
        </p:txBody>
      </p:sp>
      <p:sp>
        <p:nvSpPr>
          <p:cNvPr id="19" name="Text 12"/>
          <p:cNvSpPr/>
          <p:nvPr/>
        </p:nvSpPr>
        <p:spPr>
          <a:xfrm>
            <a:off x="558786" y="5032573"/>
            <a:ext cx="348814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Monitor IP, MAC and hostname.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351725" y="4668143"/>
            <a:ext cx="34881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History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4351725" y="5032573"/>
            <a:ext cx="348814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Track first-seen and last-seen times.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8144663" y="4668143"/>
            <a:ext cx="348824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Change</a:t>
            </a:r>
            <a:endParaRPr lang="en-US" sz="1700" dirty="0"/>
          </a:p>
        </p:txBody>
      </p:sp>
      <p:sp>
        <p:nvSpPr>
          <p:cNvPr id="23" name="Text 16"/>
          <p:cNvSpPr/>
          <p:nvPr/>
        </p:nvSpPr>
        <p:spPr>
          <a:xfrm>
            <a:off x="8144663" y="5032573"/>
            <a:ext cx="348824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Flag suspicious network changes.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558786" y="5440164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Illustrative topology · Unknown means unrecognized, not proven malicious.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609585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11509186" y="6466086"/>
            <a:ext cx="68250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1014611"/>
            <a:ext cx="116329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FUTURE VISION · ILLUSTRATIVE CORRELATION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58786" y="1274266"/>
            <a:ext cx="1107412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Correlating physical and cyber events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58786" y="2038747"/>
            <a:ext cx="1163290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Two observations can justify investigation without establishing responsibility.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58786" y="2446338"/>
            <a:ext cx="3488146" cy="2027337"/>
          </a:xfrm>
          <a:prstGeom prst="rect">
            <a:avLst/>
          </a:prstGeom>
          <a:solidFill>
            <a:srgbClr val="0C1929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879" y="2738438"/>
            <a:ext cx="319605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PHYSICAL EVENT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0879" y="2998093"/>
            <a:ext cx="29039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person enters a restricted lab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50879" y="3683893"/>
            <a:ext cx="29039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camera observation supplies physical context.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1725" y="2446338"/>
            <a:ext cx="3488146" cy="2027337"/>
          </a:xfrm>
          <a:prstGeom prst="rect">
            <a:avLst/>
          </a:prstGeom>
          <a:solidFill>
            <a:srgbClr val="0C1929"/>
          </a:solidFill>
          <a:ln w="12700">
            <a:solidFill>
              <a:srgbClr val="2344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3817" y="2738438"/>
            <a:ext cx="319605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CYBER EVENT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43817" y="2998093"/>
            <a:ext cx="290396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 unknown network device appears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3817" y="3683893"/>
            <a:ext cx="290396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network observation supplies digital context.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44663" y="2446338"/>
            <a:ext cx="3488246" cy="2027337"/>
          </a:xfrm>
          <a:prstGeom prst="rect">
            <a:avLst/>
          </a:prstGeom>
          <a:solidFill>
            <a:srgbClr val="10243A"/>
          </a:solidFill>
          <a:ln w="12700">
            <a:solidFill>
              <a:srgbClr val="36D8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36756" y="2738438"/>
            <a:ext cx="319615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CORRELATED ALERT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36756" y="2998093"/>
            <a:ext cx="290406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Investigate the coincidence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36756" y="3683893"/>
            <a:ext cx="29040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Present both events and their evidence for human review.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8786" y="4822924"/>
            <a:ext cx="11074123" cy="19050"/>
          </a:xfrm>
          <a:prstGeom prst="roundRect">
            <a:avLst>
              <a:gd name="adj" fmla="val 49999"/>
            </a:avLst>
          </a:prstGeom>
          <a:solidFill>
            <a:srgbClr val="36D8EF"/>
          </a:solidFill>
          <a:ln/>
        </p:spPr>
      </p:sp>
      <p:sp>
        <p:nvSpPr>
          <p:cNvPr id="18" name="Text 16"/>
          <p:cNvSpPr/>
          <p:nvPr/>
        </p:nvSpPr>
        <p:spPr>
          <a:xfrm>
            <a:off x="558786" y="5188049"/>
            <a:ext cx="1107412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Correlation, never an automatic accusation.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8786" y="5594449"/>
            <a:ext cx="1163290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alert does not prove that the person owns the device or caused the network event.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585" y="6466086"/>
            <a:ext cx="3195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EDITH-AI: AI Situational Awareness Platform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451839" y="6466086"/>
            <a:ext cx="7398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748</Words>
  <Application>Microsoft Office PowerPoint</Application>
  <PresentationFormat>Widescreen</PresentationFormat>
  <Paragraphs>155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Bitter</vt:lpstr>
      <vt:lpstr>Bitter SemiBold</vt:lpstr>
      <vt:lpstr>Arial</vt:lpstr>
      <vt:lpstr>Jost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Egypt For Computer</cp:lastModifiedBy>
  <cp:revision>2</cp:revision>
  <dcterms:created xsi:type="dcterms:W3CDTF">2026-10-05T17:07:11Z</dcterms:created>
  <dcterms:modified xsi:type="dcterms:W3CDTF">2026-10-05T17:50:51Z</dcterms:modified>
</cp:coreProperties>
</file>